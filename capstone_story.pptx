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60" r:id="rId7"/>
    <p:sldId id="261" r:id="rId8"/>
    <p:sldId id="262" r:id="rId9"/>
    <p:sldId id="280" r:id="rId10"/>
    <p:sldId id="282" r:id="rId11"/>
    <p:sldId id="264" r:id="rId12"/>
    <p:sldId id="278" r:id="rId13"/>
    <p:sldId id="279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6" r:id="rId22"/>
    <p:sldId id="277" r:id="rId23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=""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=""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=""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67" autoAdjust="0"/>
    <p:restoredTop sz="78213" autoAdjust="0"/>
  </p:normalViewPr>
  <p:slideViewPr>
    <p:cSldViewPr snapToGrid="0" snapToObjects="1" showGuides="1">
      <p:cViewPr varScale="1">
        <p:scale>
          <a:sx n="67" d="100"/>
          <a:sy n="67" d="100"/>
        </p:scale>
        <p:origin x="-1138" y="-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57.2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14,'0'-6,"0"-2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8.9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9.4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11.4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3.4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56.8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0,'0'6,"0"7,-6 2,-7-2,-14-3,-1-3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4:38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4.3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1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4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8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2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61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3.92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30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9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=""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=""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=""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=""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=""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=""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2.xml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34" Type="http://schemas.openxmlformats.org/officeDocument/2006/relationships/customXml" Target="../ink/ink29.xml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3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17.xml"/><Relationship Id="rId29" Type="http://schemas.openxmlformats.org/officeDocument/2006/relationships/customXml" Target="../ink/ink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20.xml"/><Relationship Id="rId32" Type="http://schemas.openxmlformats.org/officeDocument/2006/relationships/customXml" Target="../ink/ink28.xml"/><Relationship Id="rId23" Type="http://schemas.openxmlformats.org/officeDocument/2006/relationships/customXml" Target="../ink/ink19.xml"/><Relationship Id="rId28" Type="http://schemas.openxmlformats.org/officeDocument/2006/relationships/customXml" Target="../ink/ink24.xml"/><Relationship Id="rId36" Type="http://schemas.openxmlformats.org/officeDocument/2006/relationships/image" Target="../media/image7.png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31" Type="http://schemas.openxmlformats.org/officeDocument/2006/relationships/customXml" Target="../ink/ink27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8.xml"/><Relationship Id="rId27" Type="http://schemas.openxmlformats.org/officeDocument/2006/relationships/customXml" Target="../ink/ink23.xml"/><Relationship Id="rId30" Type="http://schemas.openxmlformats.org/officeDocument/2006/relationships/customXml" Target="../ink/ink26.xml"/><Relationship Id="rId35" Type="http://schemas.openxmlformats.org/officeDocument/2006/relationships/customXml" Target="../ink/ink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18.png"/><Relationship Id="rId18" Type="http://schemas.openxmlformats.org/officeDocument/2006/relationships/customXml" Target="../ink/ink40.xml"/><Relationship Id="rId3" Type="http://schemas.openxmlformats.org/officeDocument/2006/relationships/customXml" Target="../ink/ink31.xml"/><Relationship Id="rId7" Type="http://schemas.openxmlformats.org/officeDocument/2006/relationships/image" Target="../media/image5.png"/><Relationship Id="rId12" Type="http://schemas.openxmlformats.org/officeDocument/2006/relationships/customXml" Target="../ink/ink35.xml"/><Relationship Id="rId17" Type="http://schemas.openxmlformats.org/officeDocument/2006/relationships/customXml" Target="../ink/ink39.xml"/><Relationship Id="rId2" Type="http://schemas.openxmlformats.org/officeDocument/2006/relationships/image" Target="../media/image10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7.png"/><Relationship Id="rId15" Type="http://schemas.openxmlformats.org/officeDocument/2006/relationships/customXml" Target="../ink/ink37.xml"/><Relationship Id="rId10" Type="http://schemas.openxmlformats.org/officeDocument/2006/relationships/customXml" Target="../ink/ink34.xml"/><Relationship Id="rId9" Type="http://schemas.openxmlformats.org/officeDocument/2006/relationships/customXml" Target="../ink/ink33.xml"/><Relationship Id="rId14" Type="http://schemas.openxmlformats.org/officeDocument/2006/relationships/customXml" Target="../ink/ink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1543050"/>
            <a:ext cx="6206490" cy="2016957"/>
          </a:xfrm>
        </p:spPr>
        <p:txBody>
          <a:bodyPr anchor="ctr">
            <a:normAutofit/>
          </a:bodyPr>
          <a:lstStyle/>
          <a:p>
            <a:r>
              <a:rPr lang="en-US" b="1" dirty="0" smtClean="0">
                <a:solidFill>
                  <a:srgbClr val="0E659B"/>
                </a:solidFill>
              </a:rPr>
              <a:t>TECHNOLOGY TRENDS AND ANALYSIS PRESENTATION</a:t>
            </a:r>
            <a:endParaRPr lang="en-US" b="1" dirty="0">
              <a:solidFill>
                <a:srgbClr val="0E659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468567"/>
            <a:ext cx="5181600" cy="2616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TANDLE RAJITHA RANI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3/07/2022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=""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=""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=""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=""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=""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="" xmlns:a16="http://schemas.microsoft.com/office/drawing/2014/main" id="{F01B0B0D-23C0-406D-81B1-53560BEA6080}"/>
                  </a:ext>
                </a:extLst>
              </p14:cNvPr>
              <p14:cNvContentPartPr/>
              <p14:nvPr/>
            </p14:nvContentPartPr>
            <p14:xfrm>
              <a:off x="-1512000" y="5066496"/>
              <a:ext cx="360" cy="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602000" y="4886496"/>
                <a:ext cx="180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=""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=""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=""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="" xmlns:a16="http://schemas.microsoft.com/office/drawing/2014/main" id="{4BA54EC1-BC0A-44CE-B6F6-610C5C43FEAF}"/>
                  </a:ext>
                </a:extLst>
              </p14:cNvPr>
              <p14:cNvContentPartPr/>
              <p14:nvPr/>
            </p14:nvContentPartPr>
            <p14:xfrm>
              <a:off x="7131960" y="24626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282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="" xmlns:a16="http://schemas.microsoft.com/office/drawing/2014/main" id="{A047CCDF-AC55-4CA2-8CC2-5DEAB5DBDA79}"/>
                  </a:ext>
                </a:extLst>
              </p14:cNvPr>
              <p14:cNvContentPartPr/>
              <p14:nvPr/>
            </p14:nvContentPartPr>
            <p14:xfrm>
              <a:off x="7131960" y="251085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3312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=""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644160" y="455925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4160" y="4379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="" xmlns:a16="http://schemas.microsoft.com/office/drawing/2014/main" id="{E393B7F9-52EB-4DF0-9F3C-D38FF4077920}"/>
                  </a:ext>
                </a:extLst>
              </p14:cNvPr>
              <p14:cNvContentPartPr/>
              <p14:nvPr/>
            </p14:nvContentPartPr>
            <p14:xfrm>
              <a:off x="-1926720" y="39616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720" y="37820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="" xmlns:a16="http://schemas.microsoft.com/office/drawing/2014/main" id="{34B2D232-CEF5-419B-B1A5-8DBEA2B7E54F}"/>
                  </a:ext>
                </a:extLst>
              </p14:cNvPr>
              <p14:cNvContentPartPr/>
              <p14:nvPr/>
            </p14:nvContentPartPr>
            <p14:xfrm>
              <a:off x="-1049040" y="321825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38680" y="3038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=""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=""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=""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="" xmlns:a16="http://schemas.microsoft.com/office/drawing/2014/main" id="{45DA6E77-6091-41F4-942A-0F309A3D2009}"/>
                  </a:ext>
                </a:extLst>
              </p14:cNvPr>
              <p14:cNvContentPartPr/>
              <p14:nvPr/>
            </p14:nvContentPartPr>
            <p14:xfrm>
              <a:off x="-1855800" y="657936"/>
              <a:ext cx="2700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1945800" y="477936"/>
                <a:ext cx="206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="" xmlns:a16="http://schemas.microsoft.com/office/drawing/2014/main" id="{E3F3AD06-2FD6-4505-B7DB-A8FB3DED0B43}"/>
                  </a:ext>
                </a:extLst>
              </p14:cNvPr>
              <p14:cNvContentPartPr/>
              <p14:nvPr/>
            </p14:nvContentPartPr>
            <p14:xfrm>
              <a:off x="-268560" y="816336"/>
              <a:ext cx="50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58200" y="6363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=""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354" y="33653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="" xmlns:a16="http://schemas.microsoft.com/office/drawing/2014/main" id="{1A185CBD-ED91-4F24-BEB9-8E33AD8AC3B1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="" xmlns:a16="http://schemas.microsoft.com/office/drawing/2014/main" id="{032BD37A-4777-4658-98DC-561C88BBD6B5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3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="" xmlns:a16="http://schemas.microsoft.com/office/drawing/2014/main" id="{8D6F0DE4-0F5C-4DBC-980B-FA84561A37B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="" xmlns:a16="http://schemas.microsoft.com/office/drawing/2014/main" id="{24F830F4-CC15-48E6-AB15-04ED683CA04A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8160" y="746232"/>
                <a:ext cx="182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=""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97E9F6ED-ACEE-438F-A76C-C66263E59B3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="" xmlns:a16="http://schemas.microsoft.com/office/drawing/2014/main" id="{EA56CB11-8AE3-4EA0-B556-BBB572803B0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="" xmlns:a16="http://schemas.microsoft.com/office/drawing/2014/main" id="{78E27AEC-BDF9-49A4-A10A-6F5F64F01EE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="" xmlns:a16="http://schemas.microsoft.com/office/drawing/2014/main" id="{00D1CCCF-5EBB-4FB3-A293-78C28946220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0EC3AB97-946C-4D62-AEB0-E11D486AFBF0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124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825624"/>
            <a:ext cx="7068725" cy="4465447"/>
          </a:xfrm>
        </p:spPr>
        <p:txBody>
          <a:bodyPr>
            <a:normAutofit/>
          </a:bodyPr>
          <a:lstStyle/>
          <a:p>
            <a:r>
              <a:rPr lang="en-US" sz="2200" dirty="0"/>
              <a:t>JavaScript, HTML 5, and Python are widely popular, in demand languages</a:t>
            </a:r>
          </a:p>
          <a:p>
            <a:r>
              <a:rPr lang="en-US" sz="2200" dirty="0"/>
              <a:t>SQL is necessary to work with popular DBs like MongoDB and PostgreSQL</a:t>
            </a:r>
          </a:p>
          <a:p>
            <a:r>
              <a:rPr lang="en-US" sz="2200" dirty="0"/>
              <a:t>The popularity of web languages and database languages imply heavy demand in these sectors</a:t>
            </a:r>
          </a:p>
          <a:p>
            <a:r>
              <a:rPr lang="en-US" sz="2200" dirty="0"/>
              <a:t>Better to know multiple languages than a single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Students seeking positions after graduation need to be prepared with the languages in demand</a:t>
            </a:r>
          </a:p>
          <a:p>
            <a:r>
              <a:rPr lang="en-US" sz="2200" dirty="0"/>
              <a:t>Using current job postings and salary information, as well as survey results from programmers, we can determine which languages are the future </a:t>
            </a:r>
          </a:p>
          <a:p>
            <a:r>
              <a:rPr lang="en-US" sz="2200" dirty="0"/>
              <a:t>We can extrapolate from the languages what the best sectors to be in are</a:t>
            </a:r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825625"/>
            <a:ext cx="7068725" cy="4351338"/>
          </a:xfrm>
        </p:spPr>
        <p:txBody>
          <a:bodyPr>
            <a:normAutofit/>
          </a:bodyPr>
          <a:lstStyle/>
          <a:p>
            <a:r>
              <a:rPr lang="en-US" sz="2200" dirty="0" err="1"/>
              <a:t>Github</a:t>
            </a:r>
            <a:r>
              <a:rPr lang="en-US" sz="2200" dirty="0"/>
              <a:t> job posting scraped from API</a:t>
            </a:r>
          </a:p>
          <a:p>
            <a:r>
              <a:rPr lang="en-US" sz="2200" dirty="0" err="1"/>
              <a:t>Github</a:t>
            </a:r>
            <a:r>
              <a:rPr lang="en-US" sz="2200" dirty="0"/>
              <a:t> salary information scraped from web</a:t>
            </a:r>
          </a:p>
          <a:p>
            <a:r>
              <a:rPr lang="en-US" sz="2200" dirty="0"/>
              <a:t>Survey results from Stack Overflow</a:t>
            </a:r>
          </a:p>
          <a:p>
            <a:pPr lvl="1"/>
            <a:r>
              <a:rPr lang="en-US" sz="1800" dirty="0"/>
              <a:t>Popular website for programmers</a:t>
            </a:r>
          </a:p>
          <a:p>
            <a:pPr lvl="1"/>
            <a:r>
              <a:rPr lang="en-US" sz="1800" dirty="0"/>
              <a:t>Representative subset of full survey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7E408836-603B-4650-B626-2DBCDDA7F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1" y="1554481"/>
            <a:ext cx="10161270" cy="431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96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B18A2C2-A029-4AA6-9529-0B3314312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2462502"/>
            <a:ext cx="5072148" cy="37144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623EABA-4EE1-45CB-9231-B8F45A026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346" y="2462502"/>
            <a:ext cx="5887156" cy="32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0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JavaScript, HTML 5 &amp; Python continue to be popular</a:t>
            </a:r>
          </a:p>
          <a:p>
            <a:r>
              <a:rPr lang="en-US" dirty="0"/>
              <a:t>SQL decreases in popularity, but remains high </a:t>
            </a:r>
          </a:p>
          <a:p>
            <a:r>
              <a:rPr lang="en-US" dirty="0"/>
              <a:t>Bash/Shell/PowerShell drops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Greater demand for JavaScript, HTML 5, and Python programmers</a:t>
            </a:r>
          </a:p>
          <a:p>
            <a:r>
              <a:rPr lang="en-US" dirty="0"/>
              <a:t>Bash/Shell/PowerShell decreases in use</a:t>
            </a:r>
          </a:p>
          <a:p>
            <a:r>
              <a:rPr lang="en-US" dirty="0"/>
              <a:t>SQL potentially saturated market – remains useful language</a:t>
            </a:r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6FD3F7C-0F7C-478D-BED4-54A5600B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7" y="2327564"/>
            <a:ext cx="5309616" cy="39626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C9887C06-9211-4502-A49F-EE5C9E31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114" y="2327564"/>
            <a:ext cx="5919768" cy="396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3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825625"/>
          </a:xfrm>
        </p:spPr>
        <p:txBody>
          <a:bodyPr/>
          <a:lstStyle/>
          <a:p>
            <a:r>
              <a:rPr lang="en-US" b="1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MySQL decrease in popularity</a:t>
            </a:r>
          </a:p>
          <a:p>
            <a:r>
              <a:rPr lang="en-US" dirty="0"/>
              <a:t>PostgreSQL increase in popularity</a:t>
            </a:r>
          </a:p>
          <a:p>
            <a:r>
              <a:rPr lang="en-US" dirty="0"/>
              <a:t>MongoDB increase in popularity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MySQL demand is likely lower</a:t>
            </a:r>
          </a:p>
          <a:p>
            <a:r>
              <a:rPr lang="en-US" dirty="0"/>
              <a:t>PostgreSQL and MongoDB likely to be future in-demand languages</a:t>
            </a:r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3142210"/>
            <a:ext cx="7068725" cy="256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https://dataplatform.cloud.ibm.com/dashboards/5e125cd5-b399-4c69-b582-9ce42120337a/view/6c3ea30b23973edf68c9c0e4079a25047a317409b3bb825680d37b4959347497a93c1bc5c828185dd2475730a5ea17589b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CURRENT TECHNOLOGY USAGE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7B27A59-7EFC-4B60-A944-D2E80A14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561" y="1311469"/>
            <a:ext cx="8906877" cy="497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5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FUTURE TECHNOLOGY TREND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88DB663-0F9A-46A5-9DD6-E1BB6436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503" y="1354290"/>
            <a:ext cx="8748993" cy="498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2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DEMOGRAPHICS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83A247C-14A0-48B2-84A5-D9E899BD1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33" y="1363362"/>
            <a:ext cx="9121533" cy="46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7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=""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=""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Python, HTML 5, and JavaScript are perennially popular, widely used languages with broad support</a:t>
            </a:r>
          </a:p>
          <a:p>
            <a:r>
              <a:rPr lang="en-US" dirty="0"/>
              <a:t>Niche languages, like Swift, are not present in large numbers</a:t>
            </a:r>
          </a:p>
          <a:p>
            <a:r>
              <a:rPr lang="en-US" dirty="0"/>
              <a:t>While increasing in popularity among programmers, MongoDB has relatively few job openings</a:t>
            </a:r>
          </a:p>
        </p:txBody>
      </p:sp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JavaScript, HTML 5, and Python most popular language and in demand</a:t>
            </a:r>
          </a:p>
          <a:p>
            <a:r>
              <a:rPr lang="en-US" dirty="0"/>
              <a:t>SQL popularity is robust – DBs like MongoDB and PostgreSQL jump in popularity</a:t>
            </a:r>
          </a:p>
          <a:p>
            <a:r>
              <a:rPr lang="en-US" dirty="0"/>
              <a:t>Web and DB languages most popular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JavaScript, HTML 5, and Python remain best languages to learn</a:t>
            </a:r>
          </a:p>
          <a:p>
            <a:r>
              <a:rPr lang="en-US" dirty="0"/>
              <a:t>SQL and DBs are increasing in use and popularity</a:t>
            </a:r>
          </a:p>
          <a:p>
            <a:r>
              <a:rPr lang="en-US" dirty="0"/>
              <a:t>Web programming and DB programming have strong future</a:t>
            </a:r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=""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is best to learn multiple languages in order to secure a position</a:t>
            </a:r>
          </a:p>
          <a:p>
            <a:r>
              <a:rPr lang="en-US" dirty="0"/>
              <a:t>Python and JavaScript are highly sought after - #2 and #5 in </a:t>
            </a:r>
            <a:r>
              <a:rPr lang="en-US" dirty="0" err="1"/>
              <a:t>Github</a:t>
            </a:r>
            <a:r>
              <a:rPr lang="en-US" dirty="0"/>
              <a:t> job postings</a:t>
            </a:r>
          </a:p>
          <a:p>
            <a:r>
              <a:rPr lang="en-US" dirty="0"/>
              <a:t>SQL is important in dealing with multiple databases – MongoDB and PostgreSQL especially</a:t>
            </a:r>
          </a:p>
          <a:p>
            <a:r>
              <a:rPr lang="en-US" dirty="0"/>
              <a:t>Web programming and Database programming are the sectors seeing increases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08" y="20017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GITHUB JOB POSTINGS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C428380A-4AB2-423C-ABDA-B9CB9C3CE5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07858" y="1385360"/>
            <a:ext cx="8376284" cy="5004013"/>
          </a:xfrm>
        </p:spPr>
      </p:pic>
    </p:spTree>
    <p:extLst>
      <p:ext uri="{BB962C8B-B14F-4D97-AF65-F5344CB8AC3E}">
        <p14:creationId xmlns:p14="http://schemas.microsoft.com/office/powerpoint/2010/main" val="3078551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C4BEDFBC-0DBE-48C9-9B4E-196D3DDA31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20688" y="1410787"/>
            <a:ext cx="8350623" cy="4959873"/>
          </a:xfrm>
        </p:spPr>
      </p:pic>
    </p:spTree>
    <p:extLst>
      <p:ext uri="{BB962C8B-B14F-4D97-AF65-F5344CB8AC3E}">
        <p14:creationId xmlns:p14="http://schemas.microsoft.com/office/powerpoint/2010/main" val="181739902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155be751-a274-42e8-93fb-f39d3b9bccc8"/>
    <ds:schemaRef ds:uri="f80a141d-92ca-4d3d-9308-f7e7b1d44ce8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441</Words>
  <Application>Microsoft Office PowerPoint</Application>
  <PresentationFormat>Custom</PresentationFormat>
  <Paragraphs>88</Paragraphs>
  <Slides>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SLIDE_TEMPLATE_skill_network</vt:lpstr>
      <vt:lpstr>TECHNOLOGY TRENDS AND ANALYSIS PRESENTATION</vt:lpstr>
      <vt:lpstr>OUTLINE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CURRENT TECHNOLOGY USAGE</vt:lpstr>
      <vt:lpstr>FUTURE TECHNOLOGY TREND</vt:lpstr>
      <vt:lpstr>DEMOGRAPHICS</vt:lpstr>
      <vt:lpstr>DISCUSSION</vt:lpstr>
      <vt:lpstr>OVERALL FINDINGS &amp; IMPLICATIONS</vt:lpstr>
      <vt:lpstr>CONCLUSION</vt:lpstr>
      <vt:lpstr>GITHUB JOB POSTINGS</vt:lpstr>
      <vt:lpstr>POPULAR LANGUAGES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DELL</cp:lastModifiedBy>
  <cp:revision>31</cp:revision>
  <dcterms:created xsi:type="dcterms:W3CDTF">2020-10-28T18:29:43Z</dcterms:created>
  <dcterms:modified xsi:type="dcterms:W3CDTF">2022-07-09T12:47:33Z</dcterms:modified>
</cp:coreProperties>
</file>